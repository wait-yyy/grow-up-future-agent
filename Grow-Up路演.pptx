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Grow Up</c:v>
                </c:pt>
              </c:strCache>
            </c:strRef>
          </c:tx>
          <c:spPr>
            <a:solidFill>
              <a:srgbClr val="2FDBB0"/>
            </a:solidFill>
            <a:ln w="25400" cap="flat">
              <a:solidFill>
                <a:srgbClr val="2FDBB0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2FDBB0"/>
              </a:solidFill>
              <a:ln w="9525" cap="flat">
                <a:solidFill>
                  <a:srgbClr val="2FDBB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长期记忆</c:v>
                  </c:pt>
                  <c:pt idx="1">
                    <c:v>记忆可校准</c:v>
                  </c:pt>
                  <c:pt idx="2">
                    <c:v>隐私本地化</c:v>
                  </c:pt>
                  <c:pt idx="3">
                    <c:v>成长可视化</c:v>
                  </c:pt>
                  <c:pt idx="4">
                    <c:v>情感人设</c:v>
                  </c:pt>
                  <c:pt idx="5">
                    <c:v>对话流畅度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4.5</c:v>
                </c:pt>
                <c:pt idx="1">
                  <c:v>4.5</c:v>
                </c:pt>
                <c:pt idx="2">
                  <c:v>5</c:v>
                </c:pt>
                <c:pt idx="3">
                  <c:v>4.5</c:v>
                </c:pt>
                <c:pt idx="4">
                  <c:v>2</c:v>
                </c:pt>
                <c:pt idx="5">
                  <c:v>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Replika</c:v>
                </c:pt>
              </c:strCache>
            </c:strRef>
          </c:tx>
          <c:spPr>
            <a:solidFill>
              <a:srgbClr val="C26D3A"/>
            </a:solidFill>
            <a:ln w="25400" cap="flat">
              <a:solidFill>
                <a:srgbClr val="C26D3A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C26D3A"/>
              </a:solidFill>
              <a:ln w="9525" cap="flat">
                <a:solidFill>
                  <a:srgbClr val="C26D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长期记忆</c:v>
                  </c:pt>
                  <c:pt idx="1">
                    <c:v>记忆可校准</c:v>
                  </c:pt>
                  <c:pt idx="2">
                    <c:v>隐私本地化</c:v>
                  </c:pt>
                  <c:pt idx="3">
                    <c:v>成长可视化</c:v>
                  </c:pt>
                  <c:pt idx="4">
                    <c:v>情感人设</c:v>
                  </c:pt>
                  <c:pt idx="5">
                    <c:v>对话流畅度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2.5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5</c:v>
                </c:pt>
                <c:pt idx="5">
                  <c:v>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Character.AI</c:v>
                </c:pt>
              </c:strCache>
            </c:strRef>
          </c:tx>
          <c:spPr>
            <a:solidFill>
              <a:srgbClr val="857D74"/>
            </a:solidFill>
            <a:ln w="25400" cap="flat">
              <a:solidFill>
                <a:srgbClr val="857D74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857D74"/>
              </a:solidFill>
              <a:ln w="9525" cap="flat">
                <a:solidFill>
                  <a:srgbClr val="857D7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长期记忆</c:v>
                  </c:pt>
                  <c:pt idx="1">
                    <c:v>记忆可校准</c:v>
                  </c:pt>
                  <c:pt idx="2">
                    <c:v>隐私本地化</c:v>
                  </c:pt>
                  <c:pt idx="3">
                    <c:v>成长可视化</c:v>
                  </c:pt>
                  <c:pt idx="4">
                    <c:v>情感人设</c:v>
                  </c:pt>
                  <c:pt idx="5">
                    <c:v>对话流畅度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1.5</c:v>
                </c:pt>
                <c:pt idx="1">
                  <c:v>0.5</c:v>
                </c:pt>
                <c:pt idx="2">
                  <c:v>1</c:v>
                </c:pt>
                <c:pt idx="3">
                  <c:v>1</c:v>
                </c:pt>
                <c:pt idx="4">
                  <c:v>4</c:v>
                </c:pt>
                <c:pt idx="5">
                  <c:v>4.5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Pi</c:v>
                </c:pt>
              </c:strCache>
            </c:strRef>
          </c:tx>
          <c:spPr>
            <a:solidFill>
              <a:srgbClr val="3A7AB8"/>
            </a:solidFill>
            <a:ln w="25400" cap="flat">
              <a:solidFill>
                <a:srgbClr val="3A7AB8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3A7AB8"/>
              </a:solidFill>
              <a:ln w="9525" cap="flat">
                <a:solidFill>
                  <a:srgbClr val="3A7A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长期记忆</c:v>
                  </c:pt>
                  <c:pt idx="1">
                    <c:v>记忆可校准</c:v>
                  </c:pt>
                  <c:pt idx="2">
                    <c:v>隐私本地化</c:v>
                  </c:pt>
                  <c:pt idx="3">
                    <c:v>成长可视化</c:v>
                  </c:pt>
                  <c:pt idx="4">
                    <c:v>情感人设</c:v>
                  </c:pt>
                  <c:pt idx="5">
                    <c:v>对话流畅度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</c:v>
                </c:pt>
                <c:pt idx="1">
                  <c:v>0.5</c:v>
                </c:pt>
                <c:pt idx="2">
                  <c:v>1</c:v>
                </c:pt>
                <c:pt idx="3">
                  <c:v>1</c:v>
                </c:pt>
                <c:pt idx="4">
                  <c:v>3.5</c:v>
                </c:pt>
                <c:pt idx="5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0" y="0"/>
            <a:ext cx="1524000" cy="1524000"/>
          </a:xfrm>
          <a:prstGeom prst="rect">
            <a:avLst/>
          </a:prstGeom>
          <a:solidFill>
            <a:srgbClr val="2FDB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88950" y="1400324"/>
            <a:ext cx="1838623" cy="272951"/>
          </a:xfrm>
          <a:prstGeom prst="rect">
            <a:avLst/>
          </a:prstGeom>
          <a:solidFill>
            <a:srgbClr val="2FDBB0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908000" y="1400324"/>
            <a:ext cx="0" cy="272951"/>
          </a:xfrm>
          <a:prstGeom prst="line">
            <a:avLst/>
          </a:prstGeom>
          <a:noFill/>
          <a:ln w="38100">
            <a:solidFill>
              <a:srgbClr val="2FDB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4751" y="1451074"/>
            <a:ext cx="1474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PITCH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88950" y="1901875"/>
            <a:ext cx="7513421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800"/>
              </a:spcAft>
              <a:buNone/>
            </a:pPr>
            <a:r>
              <a:rPr lang="en-US" sz="46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</a:t>
            </a:r>
            <a:pPr algn="l" indent="0" marL="0">
              <a:spcBef>
                <a:spcPts val="1800"/>
              </a:spcBef>
              <a:spcAft>
                <a:spcPts val="800"/>
              </a:spcAft>
              <a:buNone/>
            </a:pPr>
            <a:r>
              <a:rPr lang="en-US" sz="46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88950" y="2679650"/>
            <a:ext cx="751342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记得你成长轨迹的知音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8950" y="3235226"/>
            <a:ext cx="1015901" cy="38100"/>
          </a:xfrm>
          <a:prstGeom prst="rect">
            <a:avLst/>
          </a:prstGeom>
          <a:solidFill>
            <a:srgbClr val="2FDB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88950" y="3552676"/>
            <a:ext cx="75134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记忆可见 · 可校准 · 只属于你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9951" y="492026"/>
            <a:ext cx="1873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6005" y="482501"/>
            <a:ext cx="33685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34901" y="879277"/>
            <a:ext cx="8031682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陪伴最大的谎言，</a:t>
            </a:r>
            <a:endParaRPr lang="en-US" sz="30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0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是它说记得你，其实不记得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34901" y="2199977"/>
            <a:ext cx="7874198" cy="1244501"/>
          </a:xfrm>
          <a:prstGeom prst="rect">
            <a:avLst/>
          </a:prstGeom>
          <a:solidFill>
            <a:srgbClr val="1116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58713" y="2199977"/>
            <a:ext cx="0" cy="1244501"/>
          </a:xfrm>
          <a:prstGeom prst="line">
            <a:avLst/>
          </a:prstGeom>
          <a:noFill/>
          <a:ln w="47625">
            <a:solidFill>
              <a:srgbClr val="FF6B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2627" y="2479328"/>
            <a:ext cx="73096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"陪伴我三年的 AI，一次更新后</a:t>
            </a:r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F6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把我全忘了</a:t>
            </a:r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像一个陌生人重新认识我。"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4901" y="3723829"/>
            <a:ext cx="8031682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Replika 重置记忆事件，让百万用户意识到：
</a:t>
            </a:r>
            <a:pPr algn="l" indent="0" marL="0">
              <a:lnSpc>
                <a:spcPts val="2380"/>
              </a:lnSpc>
              <a:buNone/>
            </a:pPr>
            <a:r>
              <a:rPr lang="en-US" sz="14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情感记忆黑箱</a:t>
            </a:r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pPr algn="l" indent="0" marL="0">
              <a:lnSpc>
                <a:spcPts val="2380"/>
              </a:lnSpc>
              <a:buNone/>
            </a:pPr>
            <a:r>
              <a:rPr lang="en-US" sz="14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云端不可控</a:t>
            </a:r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pPr algn="l" indent="0" marL="0">
              <a:lnSpc>
                <a:spcPts val="2380"/>
              </a:lnSpc>
              <a:buNone/>
            </a:pPr>
            <a:r>
              <a:rPr lang="en-US" sz="14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成长不可见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9951" y="492026"/>
            <a:ext cx="1873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6005" y="482501"/>
            <a:ext cx="33685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1261467"/>
            <a:ext cx="7772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不是更会聊天的 AI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1636068"/>
            <a:ext cx="7772400" cy="61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60"/>
              </a:lnSpc>
              <a:buNone/>
            </a:pPr>
            <a:r>
              <a:rPr lang="en-US" sz="36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是记得你</a:t>
            </a:r>
            <a:pPr algn="l" indent="0" marL="0">
              <a:lnSpc>
                <a:spcPts val="4860"/>
              </a:lnSpc>
              <a:buNone/>
            </a:pPr>
            <a:r>
              <a:rPr lang="en-US" sz="36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成长轨迹</a:t>
            </a:r>
            <a:pPr algn="l" indent="0" marL="0">
              <a:lnSpc>
                <a:spcPts val="4860"/>
              </a:lnSpc>
              <a:buNone/>
            </a:pPr>
            <a:r>
              <a:rPr lang="en-US" sz="36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的知音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62000" y="2634258"/>
            <a:ext cx="2421434" cy="1247626"/>
          </a:xfrm>
          <a:prstGeom prst="rect">
            <a:avLst/>
          </a:prstGeom>
          <a:solidFill>
            <a:srgbClr val="1116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62000" y="2653308"/>
            <a:ext cx="2421434" cy="0"/>
          </a:xfrm>
          <a:prstGeom prst="line">
            <a:avLst/>
          </a:prstGeom>
          <a:noFill/>
          <a:ln w="38100">
            <a:solidFill>
              <a:srgbClr val="2FDB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9701" y="2875508"/>
            <a:ext cx="210735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39701" y="3246983"/>
            <a:ext cx="210735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3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记忆可见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9701" y="3516809"/>
            <a:ext cx="21073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看得见 AI 记住了什么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61134" y="2634258"/>
            <a:ext cx="2421582" cy="1247626"/>
          </a:xfrm>
          <a:prstGeom prst="rect">
            <a:avLst/>
          </a:prstGeom>
          <a:solidFill>
            <a:srgbClr val="1116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361134" y="2653308"/>
            <a:ext cx="2421582" cy="0"/>
          </a:xfrm>
          <a:prstGeom prst="line">
            <a:avLst/>
          </a:prstGeom>
          <a:noFill/>
          <a:ln w="38100">
            <a:solidFill>
              <a:srgbClr val="2FDB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38835" y="2875508"/>
            <a:ext cx="210750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38835" y="3246983"/>
            <a:ext cx="210750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3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可校准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38835" y="3516809"/>
            <a:ext cx="21075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能编辑、纠正、归档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60418" y="2634258"/>
            <a:ext cx="2421582" cy="1247626"/>
          </a:xfrm>
          <a:prstGeom prst="rect">
            <a:avLst/>
          </a:prstGeom>
          <a:solidFill>
            <a:srgbClr val="1116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960418" y="2653308"/>
            <a:ext cx="2421582" cy="0"/>
          </a:xfrm>
          <a:prstGeom prst="line">
            <a:avLst/>
          </a:prstGeom>
          <a:noFill/>
          <a:ln w="38100">
            <a:solidFill>
              <a:srgbClr val="2FDB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38118" y="2875508"/>
            <a:ext cx="210750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138118" y="3246983"/>
            <a:ext cx="210750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3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只属于你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38118" y="3516809"/>
            <a:ext cx="21075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本地存储，隐私不出端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9951" y="441275"/>
            <a:ext cx="1873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6005" y="431750"/>
            <a:ext cx="101026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记忆闭环机制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34901" y="777776"/>
            <a:ext cx="803168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对话即记忆，记忆即成长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7950" y="1546027"/>
            <a:ext cx="1688902" cy="920651"/>
          </a:xfrm>
          <a:prstGeom prst="rect">
            <a:avLst/>
          </a:prstGeom>
          <a:solidFill>
            <a:srgbClr val="1116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27000" y="1546027"/>
            <a:ext cx="0" cy="920651"/>
          </a:xfrm>
          <a:prstGeom prst="line">
            <a:avLst/>
          </a:prstGeom>
          <a:noFill/>
          <a:ln w="38100">
            <a:solidFill>
              <a:srgbClr val="2FDB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3001" y="1698427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73001" y="1892052"/>
            <a:ext cx="142483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3001" y="2161877"/>
            <a:ext cx="14248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用户与知音交流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68736" y="1873002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569220" y="1546027"/>
            <a:ext cx="1688902" cy="920651"/>
          </a:xfrm>
          <a:prstGeom prst="rect">
            <a:avLst/>
          </a:prstGeom>
          <a:solidFill>
            <a:srgbClr val="1116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588270" y="1546027"/>
            <a:ext cx="0" cy="920651"/>
          </a:xfrm>
          <a:prstGeom prst="line">
            <a:avLst/>
          </a:prstGeom>
          <a:noFill/>
          <a:ln w="38100">
            <a:solidFill>
              <a:srgbClr val="2FDB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34270" y="1698427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34270" y="1892052"/>
            <a:ext cx="142483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自动提炼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34270" y="2161877"/>
            <a:ext cx="14248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拆分主题记忆卡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30005" y="1873002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30638" y="1546027"/>
            <a:ext cx="1688902" cy="920651"/>
          </a:xfrm>
          <a:prstGeom prst="rect">
            <a:avLst/>
          </a:prstGeom>
          <a:solidFill>
            <a:srgbClr val="1116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49688" y="1546027"/>
            <a:ext cx="0" cy="920651"/>
          </a:xfrm>
          <a:prstGeom prst="line">
            <a:avLst/>
          </a:prstGeom>
          <a:noFill/>
          <a:ln w="38100">
            <a:solidFill>
              <a:srgbClr val="2FDB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95689" y="1698427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95689" y="1892052"/>
            <a:ext cx="142483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归档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95689" y="2161877"/>
            <a:ext cx="14248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多文件夹分类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91424" y="1873002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691908" y="1555552"/>
            <a:ext cx="1688902" cy="901601"/>
          </a:xfrm>
          <a:prstGeom prst="rect">
            <a:avLst/>
          </a:prstGeom>
          <a:solidFill>
            <a:srgbClr val="1116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710958" y="1555552"/>
            <a:ext cx="0" cy="901601"/>
          </a:xfrm>
          <a:prstGeom prst="line">
            <a:avLst/>
          </a:prstGeom>
          <a:noFill/>
          <a:ln w="38100">
            <a:solidFill>
              <a:srgbClr val="2FDB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6958" y="1707952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6958" y="1901577"/>
            <a:ext cx="14248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Main_link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6958" y="2152352"/>
            <a:ext cx="14248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整合为上下文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452693" y="1868239"/>
            <a:ext cx="18702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4901" y="2746028"/>
            <a:ext cx="7874198" cy="504825"/>
          </a:xfrm>
          <a:prstGeom prst="rect">
            <a:avLst/>
          </a:prstGeom>
          <a:solidFill>
            <a:srgbClr val="2FDBB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53951" y="2746028"/>
            <a:ext cx="0" cy="504825"/>
          </a:xfrm>
          <a:prstGeom prst="line">
            <a:avLst/>
          </a:prstGeom>
          <a:noFill/>
          <a:ln w="38100">
            <a:solidFill>
              <a:srgbClr val="2FDBB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1601" y="2898428"/>
            <a:ext cx="7526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闭环回灌：</a:t>
            </a:r>
            <a:pPr algn="l"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下一轮对话，AI 带着 Main_link 记忆回应 —— 越聊越懂你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9951" y="441275"/>
            <a:ext cx="1873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6005" y="431750"/>
            <a:ext cx="50520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差异化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34901" y="777776"/>
            <a:ext cx="803168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我们把「记忆」做成了护城河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269802" y="2441228"/>
            <a:ext cx="6604397" cy="0"/>
          </a:xfrm>
          <a:prstGeom prst="line">
            <a:avLst/>
          </a:prstGeom>
          <a:noFill/>
          <a:ln w="19050">
            <a:solidFill>
              <a:srgbClr val="2FDB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302" y="2092077"/>
            <a:ext cx="16654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59497" y="2106364"/>
            <a:ext cx="8326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Up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31221" y="2106364"/>
            <a:ext cx="8328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Replika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03094" y="2106364"/>
            <a:ext cx="9158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Character.AI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56375" y="2106364"/>
            <a:ext cx="8326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4901" y="2925217"/>
            <a:ext cx="7874198" cy="0"/>
          </a:xfrm>
          <a:prstGeom prst="line">
            <a:avLst/>
          </a:prstGeom>
          <a:noFill/>
          <a:ln w="9525">
            <a:solidFill>
              <a:srgbClr val="232A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402" y="2590354"/>
            <a:ext cx="233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记忆可见可校准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24349" y="2450753"/>
            <a:ext cx="1346150" cy="469702"/>
          </a:xfrm>
          <a:prstGeom prst="rect">
            <a:avLst/>
          </a:prstGeom>
          <a:solidFill>
            <a:srgbClr val="2FDBB0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225850" y="2590354"/>
            <a:ext cx="11660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结构化卡片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2590354"/>
            <a:ext cx="11661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黑箱摘要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18299" y="2590354"/>
            <a:ext cx="11660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几乎无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264450" y="2590354"/>
            <a:ext cx="11660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无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4901" y="3404443"/>
            <a:ext cx="7874198" cy="0"/>
          </a:xfrm>
          <a:prstGeom prst="line">
            <a:avLst/>
          </a:prstGeom>
          <a:noFill/>
          <a:ln w="9525">
            <a:solidFill>
              <a:srgbClr val="232A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6402" y="3069580"/>
            <a:ext cx="233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隐私本地化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24349" y="2929979"/>
            <a:ext cx="1346150" cy="469702"/>
          </a:xfrm>
          <a:prstGeom prst="rect">
            <a:avLst/>
          </a:prstGeom>
          <a:solidFill>
            <a:srgbClr val="2FDBB0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225850" y="3069580"/>
            <a:ext cx="11660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IndexedDB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3069580"/>
            <a:ext cx="11661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云端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18299" y="3069580"/>
            <a:ext cx="11660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云端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64450" y="3069580"/>
            <a:ext cx="11660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云端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4901" y="3883670"/>
            <a:ext cx="7874198" cy="0"/>
          </a:xfrm>
          <a:prstGeom prst="line">
            <a:avLst/>
          </a:prstGeom>
          <a:noFill/>
          <a:ln w="9525">
            <a:solidFill>
              <a:srgbClr val="232A3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6402" y="3548807"/>
            <a:ext cx="233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成长可视化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124349" y="3409206"/>
            <a:ext cx="1346150" cy="469702"/>
          </a:xfrm>
          <a:prstGeom prst="rect">
            <a:avLst/>
          </a:prstGeom>
          <a:solidFill>
            <a:srgbClr val="2FDBB0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225850" y="3548807"/>
            <a:ext cx="11660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成长轨迹页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0" y="3548807"/>
            <a:ext cx="11661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无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18299" y="3548807"/>
            <a:ext cx="11660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无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64450" y="3548807"/>
            <a:ext cx="11660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无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4901" y="4362896"/>
            <a:ext cx="7874198" cy="0"/>
          </a:xfrm>
          <a:prstGeom prst="line">
            <a:avLst/>
          </a:prstGeom>
          <a:noFill/>
          <a:ln w="9525">
            <a:solidFill>
              <a:srgbClr val="232A3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6402" y="4028033"/>
            <a:ext cx="233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情感人设浓度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25850" y="4028033"/>
            <a:ext cx="11660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发展中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470499" y="3888432"/>
            <a:ext cx="1346299" cy="469702"/>
          </a:xfrm>
          <a:prstGeom prst="rect">
            <a:avLst/>
          </a:prstGeom>
          <a:solidFill>
            <a:srgbClr val="2FDBB0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572000" y="4028033"/>
            <a:ext cx="11661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强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18299" y="4028033"/>
            <a:ext cx="11660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角色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64450" y="4028033"/>
            <a:ext cx="11660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EQ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9951" y="441275"/>
            <a:ext cx="1873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6005" y="431750"/>
            <a:ext cx="83264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亮点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34901" y="777776"/>
            <a:ext cx="803168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两个让评委记住你的瞬间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4901" y="1520726"/>
            <a:ext cx="3848249" cy="1722090"/>
          </a:xfrm>
          <a:prstGeom prst="rect">
            <a:avLst/>
          </a:prstGeom>
          <a:solidFill>
            <a:srgbClr val="1116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53951" y="1520726"/>
            <a:ext cx="0" cy="1722090"/>
          </a:xfrm>
          <a:prstGeom prst="line">
            <a:avLst/>
          </a:prstGeom>
          <a:noFill/>
          <a:ln w="38100">
            <a:solidFill>
              <a:srgbClr val="2FDB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6151" y="1749326"/>
            <a:ext cx="3471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成长轨迹页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76151" y="2073176"/>
            <a:ext cx="3471925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 AI 对你的记忆，具象成一条可回看的成长时间线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76151" y="2423666"/>
            <a:ext cx="34719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30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76151" y="2852291"/>
            <a:ext cx="34719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总记忆 · 主题 · 陪伴天数 · 文件夹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4901" y="3395216"/>
            <a:ext cx="3848249" cy="796528"/>
          </a:xfrm>
          <a:prstGeom prst="rect">
            <a:avLst/>
          </a:prstGeom>
          <a:solidFill>
            <a:srgbClr val="1116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53951" y="3395216"/>
            <a:ext cx="0" cy="796528"/>
          </a:xfrm>
          <a:prstGeom prst="line">
            <a:avLst/>
          </a:prstGeom>
          <a:noFill/>
          <a:ln w="38100">
            <a:solidFill>
              <a:srgbClr val="FF6B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6151" y="3572917"/>
            <a:ext cx="34719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陪伴人格回复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76151" y="3823692"/>
            <a:ext cx="347192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不是工具腔，而是「记得你」的知音语气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0850" y="1673126"/>
            <a:ext cx="3848249" cy="796528"/>
          </a:xfrm>
          <a:prstGeom prst="rect">
            <a:avLst/>
          </a:prstGeom>
          <a:solidFill>
            <a:srgbClr val="1116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79900" y="1673126"/>
            <a:ext cx="0" cy="796528"/>
          </a:xfrm>
          <a:prstGeom prst="line">
            <a:avLst/>
          </a:prstGeom>
          <a:noFill/>
          <a:ln w="38100">
            <a:solidFill>
              <a:srgbClr val="2FDB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02101" y="1850827"/>
            <a:ext cx="34719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 → 自动出记忆卡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02101" y="2101602"/>
            <a:ext cx="347192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说几句，右侧就长出你的「记忆卡片」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0850" y="2622054"/>
            <a:ext cx="3848249" cy="796528"/>
          </a:xfrm>
          <a:prstGeom prst="rect">
            <a:avLst/>
          </a:prstGeom>
          <a:solidFill>
            <a:srgbClr val="1116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79900" y="2622054"/>
            <a:ext cx="0" cy="796528"/>
          </a:xfrm>
          <a:prstGeom prst="line">
            <a:avLst/>
          </a:prstGeom>
          <a:noFill/>
          <a:ln w="38100">
            <a:solidFill>
              <a:srgbClr val="2FDB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02101" y="2799755"/>
            <a:ext cx="34719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勾选文件夹 → 生成 Main_link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02101" y="3050530"/>
            <a:ext cx="347192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几秒整合成上下文，下一轮带着记忆回应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0850" y="3570982"/>
            <a:ext cx="3848249" cy="796528"/>
          </a:xfrm>
          <a:prstGeom prst="rect">
            <a:avLst/>
          </a:prstGeom>
          <a:solidFill>
            <a:srgbClr val="1116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79900" y="3570982"/>
            <a:ext cx="0" cy="796528"/>
          </a:xfrm>
          <a:prstGeom prst="line">
            <a:avLst/>
          </a:prstGeom>
          <a:noFill/>
          <a:ln w="38100">
            <a:solidFill>
              <a:srgbClr val="2FDB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2101" y="3748683"/>
            <a:ext cx="34719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语音输入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02101" y="3999458"/>
            <a:ext cx="347192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像和真朋友说话那样开口交流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9951" y="441275"/>
            <a:ext cx="1873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6005" y="431750"/>
            <a:ext cx="50520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竞争性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34901" y="777776"/>
            <a:ext cx="803168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错位竞争：记忆是别人没做透的空白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34000" y="2146250"/>
            <a:ext cx="3175099" cy="784175"/>
          </a:xfrm>
          <a:prstGeom prst="rect">
            <a:avLst/>
          </a:prstGeom>
          <a:solidFill>
            <a:srgbClr val="1116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53050" y="2146250"/>
            <a:ext cx="0" cy="784175"/>
          </a:xfrm>
          <a:prstGeom prst="line">
            <a:avLst/>
          </a:prstGeom>
          <a:noFill/>
          <a:ln w="38100">
            <a:solidFill>
              <a:srgbClr val="2FDB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49801" y="2298650"/>
            <a:ext cx="283723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长期记忆 · 记忆可校准 · 隐私本地化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549801" y="2568476"/>
            <a:ext cx="28372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Up 全面领先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34000" y="3108127"/>
            <a:ext cx="3175099" cy="784175"/>
          </a:xfrm>
          <a:prstGeom prst="rect">
            <a:avLst/>
          </a:prstGeom>
          <a:solidFill>
            <a:srgbClr val="1116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353050" y="3108127"/>
            <a:ext cx="0" cy="784175"/>
          </a:xfrm>
          <a:prstGeom prst="line">
            <a:avLst/>
          </a:prstGeom>
          <a:noFill/>
          <a:ln w="38100">
            <a:solidFill>
              <a:srgbClr val="2FDB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49801" y="3260527"/>
            <a:ext cx="283723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情感人设 · 对话流畅度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49801" y="3530352"/>
            <a:ext cx="28372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对手更强，是下一阶段补齐项</a:t>
            </a:r>
            <a:endParaRPr lang="en-US" sz="11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34901" y="1368326"/>
          <a:ext cx="4445198" cy="330190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9951" y="441275"/>
            <a:ext cx="1873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6005" y="431750"/>
            <a:ext cx="50520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路线图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34901" y="777776"/>
            <a:ext cx="803168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从「记得你」到「懂你」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4901" y="1546027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2FDB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1850678"/>
            <a:ext cx="11473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2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现在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101453"/>
            <a:ext cx="11473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记忆闭环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4901" y="2415778"/>
            <a:ext cx="1147340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0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对话提炼 · 归档</a:t>
            </a:r>
            <a:endParaRPr lang="en-US" sz="1000" dirty="0"/>
          </a:p>
          <a:p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0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Main_link · 成长轨迹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59744" y="1622227"/>
            <a:ext cx="1124992" cy="25301"/>
          </a:xfrm>
          <a:prstGeom prst="rect">
            <a:avLst/>
          </a:prstGeom>
          <a:solidFill>
            <a:srgbClr val="2FDB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884736" y="1546027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2FDB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884736" y="1850678"/>
            <a:ext cx="11473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2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近期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84736" y="2101453"/>
            <a:ext cx="11473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84736" y="2415778"/>
            <a:ext cx="1147340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0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语音输出 TTS</a:t>
            </a:r>
            <a:endParaRPr lang="en-US" sz="1000" dirty="0"/>
          </a:p>
          <a:p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0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图片记忆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09579" y="1622227"/>
            <a:ext cx="1124992" cy="25301"/>
          </a:xfrm>
          <a:prstGeom prst="rect">
            <a:avLst/>
          </a:prstGeom>
          <a:solidFill>
            <a:srgbClr val="2FDB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134570" y="1546027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2FDB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134570" y="1850678"/>
            <a:ext cx="11473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2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34570" y="2101453"/>
            <a:ext cx="11473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情绪感知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34570" y="2415778"/>
            <a:ext cx="1147340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0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识别情绪 · 主动关怀</a:t>
            </a:r>
            <a:endParaRPr lang="en-US" sz="1000" dirty="0"/>
          </a:p>
          <a:p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0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记忆回看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59413" y="1622227"/>
            <a:ext cx="1124843" cy="25301"/>
          </a:xfrm>
          <a:prstGeom prst="rect">
            <a:avLst/>
          </a:prstGeom>
          <a:solidFill>
            <a:srgbClr val="232A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384256" y="1546027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232A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384256" y="1850678"/>
            <a:ext cx="11473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200" b="1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远期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84256" y="2101453"/>
            <a:ext cx="11473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云端同步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84256" y="2415778"/>
            <a:ext cx="1147340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0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跨设备记忆</a:t>
            </a:r>
            <a:endParaRPr lang="en-US" sz="1000" dirty="0"/>
          </a:p>
          <a:p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0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端到端加密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524000" cy="1524000"/>
          </a:xfrm>
          <a:prstGeom prst="rect">
            <a:avLst/>
          </a:prstGeom>
          <a:solidFill>
            <a:srgbClr val="2FDB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88013" y="1228130"/>
            <a:ext cx="36797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030425" y="1955155"/>
            <a:ext cx="308300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spcAft>
                <a:spcPts val="1000"/>
              </a:spcAft>
              <a:buNone/>
            </a:pPr>
            <a:r>
              <a:rPr lang="en-US" sz="34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记忆，</a:t>
            </a:r>
            <a:pPr algn="ctr" indent="0" marL="0">
              <a:spcBef>
                <a:spcPts val="1600"/>
              </a:spcBef>
              <a:spcAft>
                <a:spcPts val="1000"/>
              </a:spcAft>
              <a:buNone/>
            </a:pPr>
            <a:r>
              <a:rPr lang="en-US" sz="34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只属于你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574796" y="2653605"/>
            <a:ext cx="1994258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不是更会聊天的 AI</a:t>
            </a:r>
            <a:endParaRPr lang="en-US" sz="1400" dirty="0"/>
          </a:p>
          <a:p>
            <a:pPr algn="ctr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是记得你成长轨迹的知音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04437" y="3639145"/>
            <a:ext cx="13732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Up · 谢谢聆听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 Up 路演</dc:title>
  <dc:subject>PptxGenJS Presentation</dc:subject>
  <dc:creator>Grow Up</dc:creator>
  <cp:lastModifiedBy>Grow Up</cp:lastModifiedBy>
  <cp:revision>1</cp:revision>
  <dcterms:created xsi:type="dcterms:W3CDTF">2026-08-29T04:49:26Z</dcterms:created>
  <dcterms:modified xsi:type="dcterms:W3CDTF">2026-08-29T04:49:26Z</dcterms:modified>
</cp:coreProperties>
</file>